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4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688" y="-21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014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678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20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76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28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61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21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81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32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27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88A2D-6A84-438E-A424-DED80039ED4E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0E4E9-801F-47F0-816E-242D57CAE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53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D88D304-0A02-0353-6166-476C61424E69}"/>
              </a:ext>
            </a:extLst>
          </p:cNvPr>
          <p:cNvSpPr/>
          <p:nvPr/>
        </p:nvSpPr>
        <p:spPr>
          <a:xfrm>
            <a:off x="2307771" y="7736114"/>
            <a:ext cx="4296229" cy="18523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ED237A-D945-FCE9-A31B-C19E7253D1B2}"/>
              </a:ext>
            </a:extLst>
          </p:cNvPr>
          <p:cNvSpPr txBox="1"/>
          <p:nvPr/>
        </p:nvSpPr>
        <p:spPr>
          <a:xfrm>
            <a:off x="0" y="3089002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BIGINNER’S   FISH</a:t>
            </a:r>
          </a:p>
          <a:p>
            <a:pPr algn="ctr"/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~</a:t>
            </a:r>
            <a:r>
              <a:rPr kumimoji="1" lang="ja-JP" alt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ゲーム機制作を簡単にするデバイス</a:t>
            </a:r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~</a:t>
            </a:r>
            <a:endParaRPr kumimoji="1" lang="en-US" altLang="ja-JP" sz="2000" b="1" i="1" dirty="0">
              <a:solidFill>
                <a:schemeClr val="accent1">
                  <a:lumMod val="60000"/>
                  <a:lumOff val="4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217A04A-8DBD-B1E4-ECD2-41D0A06D5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4669064"/>
            <a:ext cx="2590800" cy="25908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9955FDB-EB99-E20F-4733-24D4CC4CF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92" y="7736114"/>
            <a:ext cx="2381250" cy="9525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FBA45F-AECC-727D-DAC7-43C7D2E7B533}"/>
              </a:ext>
            </a:extLst>
          </p:cNvPr>
          <p:cNvSpPr txBox="1"/>
          <p:nvPr/>
        </p:nvSpPr>
        <p:spPr>
          <a:xfrm>
            <a:off x="2551521" y="8688614"/>
            <a:ext cx="3709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機械村</a:t>
            </a:r>
          </a:p>
        </p:txBody>
      </p:sp>
    </p:spTree>
    <p:extLst>
      <p:ext uri="{BB962C8B-B14F-4D97-AF65-F5344CB8AC3E}">
        <p14:creationId xmlns:p14="http://schemas.microsoft.com/office/powerpoint/2010/main" val="402861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1D6C-1D49-4870-3D33-A9C2272A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322EF2-581F-99D0-A531-C16DF3F52076}"/>
              </a:ext>
            </a:extLst>
          </p:cNvPr>
          <p:cNvSpPr txBox="1"/>
          <p:nvPr/>
        </p:nvSpPr>
        <p:spPr>
          <a:xfrm>
            <a:off x="0" y="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BIGINNER’S   FISH</a:t>
            </a:r>
          </a:p>
          <a:p>
            <a:pPr algn="ctr"/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r>
              <a:rPr kumimoji="1" lang="ja-JP" alt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ゲーム機制作を簡単にするデバイス</a:t>
            </a:r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endParaRPr kumimoji="1" lang="en-US" altLang="ja-JP" sz="2000" b="1" i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129F151-C5C1-F760-7C7D-CCC64109B81B}"/>
              </a:ext>
            </a:extLst>
          </p:cNvPr>
          <p:cNvSpPr/>
          <p:nvPr/>
        </p:nvSpPr>
        <p:spPr>
          <a:xfrm>
            <a:off x="0" y="4549140"/>
            <a:ext cx="6858000" cy="53568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2000">
                <a:schemeClr val="bg2">
                  <a:lumMod val="10000"/>
                </a:schemeClr>
              </a:gs>
              <a:gs pos="35000">
                <a:schemeClr val="tx2">
                  <a:lumMod val="90000"/>
                  <a:lumOff val="1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F34476-47A3-EBAB-2F78-3BF868262F22}"/>
              </a:ext>
            </a:extLst>
          </p:cNvPr>
          <p:cNvGrpSpPr/>
          <p:nvPr/>
        </p:nvGrpSpPr>
        <p:grpSpPr>
          <a:xfrm>
            <a:off x="0" y="1405719"/>
            <a:ext cx="6858000" cy="3323987"/>
            <a:chOff x="0" y="1828800"/>
            <a:chExt cx="6858000" cy="3323987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A370AC44-6551-5705-F77C-DB6F5986488C}"/>
                </a:ext>
              </a:extLst>
            </p:cNvPr>
            <p:cNvSpPr txBox="1"/>
            <p:nvPr/>
          </p:nvSpPr>
          <p:spPr>
            <a:xfrm>
              <a:off x="0" y="1828800"/>
              <a:ext cx="4229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🐟はじめに</a:t>
              </a:r>
              <a:endParaRPr kumimoji="1" lang="en-US" altLang="ja-JP" sz="240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3DC6B31-40C1-9045-B060-60757C1F9BF3}"/>
                </a:ext>
              </a:extLst>
            </p:cNvPr>
            <p:cNvSpPr txBox="1"/>
            <p:nvPr/>
          </p:nvSpPr>
          <p:spPr>
            <a:xfrm>
              <a:off x="0" y="2290465"/>
              <a:ext cx="68580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おそらく多くの人が触れたことがある“ゲーム</a:t>
              </a:r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”</a:t>
              </a:r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を作りたいと思う人は多いはず。しかし、その道のりは簡単ではなく、挫折してしまったり、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「</a:t>
              </a:r>
              <a:r>
                <a:rPr kumimoji="1" lang="ja-JP" altLang="en-US" dirty="0">
                  <a:solidFill>
                    <a:srgbClr val="00B0F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手のひらにロマンを持ち運ぶゲーム機を作るなんてのは夢のまた夢</a:t>
              </a:r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」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なんてあきらめていませんか？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u="sng" dirty="0">
                  <a:solidFill>
                    <a:srgbClr val="00B0F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そんなあなたでもゲーム機で動くゲームを簡単に作れるとしたら</a:t>
              </a:r>
              <a:endParaRPr kumimoji="1" lang="en-US" altLang="ja-JP" u="sng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u="sng" dirty="0">
                  <a:solidFill>
                    <a:srgbClr val="00B0F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しかもそのデバイス自体がゲーム機で、「遊ぶ」と「創る」を両立できるなら？</a:t>
              </a:r>
              <a:endParaRPr kumimoji="1" lang="en-US" altLang="ja-JP" u="sng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夢が広がりますよね！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飢えている人に　魚を与えるか釣り方を教えるか　で言うならば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「</a:t>
              </a:r>
              <a:r>
                <a:rPr kumimoji="1" lang="ja-JP" altLang="en-US" dirty="0">
                  <a:solidFill>
                    <a:srgbClr val="00B0F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与えた魚で習性を教える</a:t>
              </a:r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」ようないいとこどりができるデバイス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BIGINNER’S FISH</a:t>
              </a:r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の紹介です</a:t>
              </a:r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―――</a:t>
              </a:r>
            </a:p>
          </p:txBody>
        </p:sp>
      </p:grpSp>
      <p:pic>
        <p:nvPicPr>
          <p:cNvPr id="9" name="図 8">
            <a:extLst>
              <a:ext uri="{FF2B5EF4-FFF2-40B4-BE49-F238E27FC236}">
                <a16:creationId xmlns:a16="http://schemas.microsoft.com/office/drawing/2014/main" id="{420D6FD0-C69D-921D-DE04-C346D1502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980" y="6959203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1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E3DE-A800-D627-E015-C04871F7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D4CB93-EBD0-23B1-8E74-82ADB7DB2DEF}"/>
              </a:ext>
            </a:extLst>
          </p:cNvPr>
          <p:cNvSpPr txBox="1"/>
          <p:nvPr/>
        </p:nvSpPr>
        <p:spPr>
          <a:xfrm>
            <a:off x="0" y="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BIGINNER’S   FISH</a:t>
            </a:r>
          </a:p>
          <a:p>
            <a:pPr algn="ctr"/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r>
              <a:rPr kumimoji="1" lang="ja-JP" alt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ゲーム機制作を簡単にするデバイス</a:t>
            </a:r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endParaRPr kumimoji="1" lang="en-US" altLang="ja-JP" sz="2000" b="1" i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EE23797-5F77-12F1-F7C2-5684C0D1B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82" y="8639032"/>
            <a:ext cx="992857" cy="992857"/>
          </a:xfrm>
          <a:prstGeom prst="rect">
            <a:avLst/>
          </a:prstGeom>
        </p:spPr>
      </p:pic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7D17AA9D-E11B-27F8-26AD-B0ACFF9AA9B8}"/>
              </a:ext>
            </a:extLst>
          </p:cNvPr>
          <p:cNvGrpSpPr/>
          <p:nvPr/>
        </p:nvGrpSpPr>
        <p:grpSpPr>
          <a:xfrm>
            <a:off x="0" y="1595693"/>
            <a:ext cx="6677025" cy="1661994"/>
            <a:chOff x="0" y="1595693"/>
            <a:chExt cx="6677025" cy="1661994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88149B4-1671-0914-88FA-0F0C0A3E5783}"/>
                </a:ext>
              </a:extLst>
            </p:cNvPr>
            <p:cNvSpPr/>
            <p:nvPr/>
          </p:nvSpPr>
          <p:spPr>
            <a:xfrm>
              <a:off x="180975" y="2057358"/>
              <a:ext cx="6496050" cy="120032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8B25068-F17D-9898-2C5E-DBA66268E4AB}"/>
                </a:ext>
              </a:extLst>
            </p:cNvPr>
            <p:cNvSpPr txBox="1"/>
            <p:nvPr/>
          </p:nvSpPr>
          <p:spPr>
            <a:xfrm>
              <a:off x="0" y="1595693"/>
              <a:ext cx="48258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🐟</a:t>
              </a:r>
              <a:r>
                <a:rPr kumimoji="1" lang="en-US" altLang="ja-JP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BIGINNER’S FISH</a:t>
              </a:r>
              <a:r>
                <a:rPr kumimoji="1" lang="ja-JP" alt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とは</a:t>
              </a:r>
              <a:endParaRPr kumimoji="1" lang="en-US" altLang="ja-JP" sz="240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8CFA613-1A8D-DDEB-C3F1-608F14D80122}"/>
                </a:ext>
              </a:extLst>
            </p:cNvPr>
            <p:cNvSpPr txBox="1"/>
            <p:nvPr/>
          </p:nvSpPr>
          <p:spPr>
            <a:xfrm>
              <a:off x="180975" y="2426689"/>
              <a:ext cx="64627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手軽にゲーム開発ができるようにするデバイス</a:t>
              </a:r>
              <a:endParaRPr kumimoji="1" lang="en-US" altLang="ja-JP" sz="2400" b="1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161A03C-F2A3-ACC7-3266-D2FF30FB42DF}"/>
              </a:ext>
            </a:extLst>
          </p:cNvPr>
          <p:cNvSpPr/>
          <p:nvPr/>
        </p:nvSpPr>
        <p:spPr>
          <a:xfrm>
            <a:off x="2284412" y="6739076"/>
            <a:ext cx="2219325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D5E00DCE-AAE3-02A1-3F9B-9CC3424FB639}"/>
              </a:ext>
            </a:extLst>
          </p:cNvPr>
          <p:cNvGrpSpPr/>
          <p:nvPr/>
        </p:nvGrpSpPr>
        <p:grpSpPr>
          <a:xfrm>
            <a:off x="-1589" y="3500600"/>
            <a:ext cx="6791325" cy="4809707"/>
            <a:chOff x="0" y="1595693"/>
            <a:chExt cx="6791325" cy="3024756"/>
          </a:xfrm>
        </p:grpSpPr>
        <p:sp>
          <p:nvSpPr>
            <p:cNvPr id="67" name="四角形: 角を丸くする 66">
              <a:extLst>
                <a:ext uri="{FF2B5EF4-FFF2-40B4-BE49-F238E27FC236}">
                  <a16:creationId xmlns:a16="http://schemas.microsoft.com/office/drawing/2014/main" id="{3B381A0C-04C9-3578-41B4-60D339DF823B}"/>
                </a:ext>
              </a:extLst>
            </p:cNvPr>
            <p:cNvSpPr/>
            <p:nvPr/>
          </p:nvSpPr>
          <p:spPr>
            <a:xfrm>
              <a:off x="180975" y="2057358"/>
              <a:ext cx="6496050" cy="256309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CA811DDD-1893-AE4F-CDC9-23F5FEE305DD}"/>
                </a:ext>
              </a:extLst>
            </p:cNvPr>
            <p:cNvSpPr txBox="1"/>
            <p:nvPr/>
          </p:nvSpPr>
          <p:spPr>
            <a:xfrm>
              <a:off x="0" y="1595693"/>
              <a:ext cx="48258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🐟</a:t>
              </a:r>
              <a:r>
                <a:rPr kumimoji="1" lang="en-US" altLang="ja-JP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BIGINNER’S FISH</a:t>
              </a:r>
              <a:r>
                <a:rPr kumimoji="1" lang="ja-JP" alt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でできること</a:t>
              </a:r>
              <a:endParaRPr kumimoji="1" lang="en-US" altLang="ja-JP" sz="240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C6C07E1B-EA91-BEE4-5CB1-73B40652477B}"/>
                </a:ext>
              </a:extLst>
            </p:cNvPr>
            <p:cNvSpPr txBox="1"/>
            <p:nvPr/>
          </p:nvSpPr>
          <p:spPr>
            <a:xfrm>
              <a:off x="295275" y="2297391"/>
              <a:ext cx="6496050" cy="2148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ja-JP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Python</a:t>
              </a: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を使ったゲーム制作</a:t>
              </a:r>
              <a:endPara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はんだ付け、回路設計などの複雑さを伴わないゲーム機制作</a:t>
              </a:r>
              <a:endPara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オリジナルの</a:t>
              </a:r>
              <a:r>
                <a:rPr kumimoji="1" lang="en-US" altLang="ja-JP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[FISH</a:t>
              </a: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モジュール</a:t>
              </a:r>
              <a:r>
                <a:rPr kumimoji="1" lang="en-US" altLang="ja-JP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]</a:t>
              </a: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による簡易な画面描画、センサーデータの取得</a:t>
              </a:r>
              <a:endPara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メインファイルをいじることなく、複数のゲームを電源を入れるだけで遊べる</a:t>
              </a:r>
              <a:endPara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ja-JP" altLang="en-US" sz="2400" dirty="0">
                  <a:solidFill>
                    <a:schemeClr val="accent1">
                      <a:lumMod val="50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携帯ゲーム機ならではのセンサーの取得するデータの実感、体験</a:t>
              </a:r>
              <a:endPara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679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7AAB-C44D-B6B8-D317-767BE2A5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430A672-505C-211F-58C4-07F0C47C9264}"/>
              </a:ext>
            </a:extLst>
          </p:cNvPr>
          <p:cNvSpPr/>
          <p:nvPr/>
        </p:nvSpPr>
        <p:spPr>
          <a:xfrm>
            <a:off x="180975" y="2057358"/>
            <a:ext cx="6496050" cy="26860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0CC357-AE2F-3AC5-E84F-333104F2280F}"/>
              </a:ext>
            </a:extLst>
          </p:cNvPr>
          <p:cNvSpPr txBox="1"/>
          <p:nvPr/>
        </p:nvSpPr>
        <p:spPr>
          <a:xfrm>
            <a:off x="0" y="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BIGINNER’S   FISH</a:t>
            </a:r>
          </a:p>
          <a:p>
            <a:pPr algn="ctr"/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r>
              <a:rPr kumimoji="1" lang="ja-JP" alt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ゲーム機制作を簡単にするデバイス</a:t>
            </a:r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endParaRPr kumimoji="1" lang="en-US" altLang="ja-JP" sz="2000" b="1" i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881B4D-DFE1-F7F9-3C4A-8CAB11B9931A}"/>
              </a:ext>
            </a:extLst>
          </p:cNvPr>
          <p:cNvSpPr txBox="1"/>
          <p:nvPr/>
        </p:nvSpPr>
        <p:spPr>
          <a:xfrm>
            <a:off x="0" y="1595693"/>
            <a:ext cx="422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🐟技術スタック</a:t>
            </a:r>
            <a:endParaRPr kumimoji="1" lang="en-US" altLang="ja-JP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9E0B40D-4201-F502-CE54-7C76EA278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82" y="8639032"/>
            <a:ext cx="992857" cy="99285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ADEF51-00C2-7B72-3AB5-572F13E8DD57}"/>
              </a:ext>
            </a:extLst>
          </p:cNvPr>
          <p:cNvSpPr txBox="1"/>
          <p:nvPr/>
        </p:nvSpPr>
        <p:spPr>
          <a:xfrm>
            <a:off x="0" y="5206685"/>
            <a:ext cx="422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🐟構成</a:t>
            </a:r>
            <a:endParaRPr kumimoji="1" lang="en-US" altLang="ja-JP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1A34EB0-4AA4-703F-0C96-E42B4EF7CD55}"/>
              </a:ext>
            </a:extLst>
          </p:cNvPr>
          <p:cNvSpPr/>
          <p:nvPr/>
        </p:nvSpPr>
        <p:spPr>
          <a:xfrm>
            <a:off x="180975" y="5668350"/>
            <a:ext cx="6496050" cy="26860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3CA360DB-08F7-0E77-323B-442DC3AED9B9}"/>
              </a:ext>
            </a:extLst>
          </p:cNvPr>
          <p:cNvSpPr/>
          <p:nvPr/>
        </p:nvSpPr>
        <p:spPr>
          <a:xfrm>
            <a:off x="4702174" y="5797481"/>
            <a:ext cx="1790701" cy="23495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4450DD1-0940-2752-A6CC-49E5E4861B1E}"/>
              </a:ext>
            </a:extLst>
          </p:cNvPr>
          <p:cNvCxnSpPr>
            <a:cxnSpLocks/>
          </p:cNvCxnSpPr>
          <p:nvPr/>
        </p:nvCxnSpPr>
        <p:spPr>
          <a:xfrm>
            <a:off x="4829059" y="7477594"/>
            <a:ext cx="57965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8D2AC4F9-3A84-7377-89F3-9FCF251B1390}"/>
              </a:ext>
            </a:extLst>
          </p:cNvPr>
          <p:cNvCxnSpPr>
            <a:cxnSpLocks/>
          </p:cNvCxnSpPr>
          <p:nvPr/>
        </p:nvCxnSpPr>
        <p:spPr>
          <a:xfrm>
            <a:off x="4825884" y="6658911"/>
            <a:ext cx="57965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A0458790-E6C6-F151-B0E7-F6D3A225331B}"/>
              </a:ext>
            </a:extLst>
          </p:cNvPr>
          <p:cNvSpPr/>
          <p:nvPr/>
        </p:nvSpPr>
        <p:spPr>
          <a:xfrm>
            <a:off x="295274" y="5796761"/>
            <a:ext cx="1790701" cy="23495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573C67B1-EA2D-7642-D47C-3D3B4C3ACAEB}"/>
              </a:ext>
            </a:extLst>
          </p:cNvPr>
          <p:cNvCxnSpPr>
            <a:cxnSpLocks/>
          </p:cNvCxnSpPr>
          <p:nvPr/>
        </p:nvCxnSpPr>
        <p:spPr>
          <a:xfrm>
            <a:off x="1407891" y="7475932"/>
            <a:ext cx="57965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7C97CF6-81B0-8C74-87DF-710908299E6F}"/>
              </a:ext>
            </a:extLst>
          </p:cNvPr>
          <p:cNvSpPr txBox="1"/>
          <p:nvPr/>
        </p:nvSpPr>
        <p:spPr>
          <a:xfrm>
            <a:off x="295275" y="2297391"/>
            <a:ext cx="64960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Raspberry pi Pico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 err="1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MicroPython</a:t>
            </a:r>
            <a:endParaRPr kumimoji="1" lang="en-US" altLang="ja-JP" sz="24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st7789</a:t>
            </a:r>
            <a:r>
              <a:rPr kumimoji="1" lang="ja-JP" altLang="en-US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モジュール（画面）</a:t>
            </a:r>
            <a:endParaRPr kumimoji="1" lang="en-US" altLang="ja-JP" sz="24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その他諸センサー（</a:t>
            </a:r>
            <a:r>
              <a: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mpu6050,SHT3x)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Thonny(</a:t>
            </a:r>
            <a:r>
              <a:rPr kumimoji="1" lang="ja-JP" altLang="en-US" sz="2400" dirty="0">
                <a:solidFill>
                  <a:schemeClr val="accent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書き込み）</a:t>
            </a:r>
            <a:endParaRPr kumimoji="1" lang="en-US" altLang="ja-JP" sz="2400" dirty="0">
              <a:solidFill>
                <a:schemeClr val="accent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6277D28-A9ED-E28C-66B7-F40512108855}"/>
              </a:ext>
            </a:extLst>
          </p:cNvPr>
          <p:cNvSpPr/>
          <p:nvPr/>
        </p:nvSpPr>
        <p:spPr>
          <a:xfrm>
            <a:off x="2284412" y="6739076"/>
            <a:ext cx="2219325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Raspberry Pi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83DD508-2C83-F13F-6E00-310D9D34FCD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503737" y="7064844"/>
            <a:ext cx="32543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0507E487-5804-39B2-BF76-BDFE328742DF}"/>
              </a:ext>
            </a:extLst>
          </p:cNvPr>
          <p:cNvCxnSpPr>
            <a:cxnSpLocks/>
          </p:cNvCxnSpPr>
          <p:nvPr/>
        </p:nvCxnSpPr>
        <p:spPr>
          <a:xfrm>
            <a:off x="1423767" y="6655267"/>
            <a:ext cx="57965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DD23A49-2EEF-A88C-30F0-3FD394F51792}"/>
              </a:ext>
            </a:extLst>
          </p:cNvPr>
          <p:cNvSpPr/>
          <p:nvPr/>
        </p:nvSpPr>
        <p:spPr>
          <a:xfrm>
            <a:off x="4953001" y="6287836"/>
            <a:ext cx="1390650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st7789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B108E09-92E2-1737-1342-0413541E89B5}"/>
              </a:ext>
            </a:extLst>
          </p:cNvPr>
          <p:cNvCxnSpPr>
            <a:cxnSpLocks/>
          </p:cNvCxnSpPr>
          <p:nvPr/>
        </p:nvCxnSpPr>
        <p:spPr>
          <a:xfrm flipH="1">
            <a:off x="1993900" y="7064844"/>
            <a:ext cx="598487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467F5969-6A9A-FCF2-71C8-05E0721A29C2}"/>
              </a:ext>
            </a:extLst>
          </p:cNvPr>
          <p:cNvSpPr/>
          <p:nvPr/>
        </p:nvSpPr>
        <p:spPr>
          <a:xfrm>
            <a:off x="476250" y="6319975"/>
            <a:ext cx="1390650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mpu6050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C577200-56F8-F617-F1D9-2579B28FF07D}"/>
              </a:ext>
            </a:extLst>
          </p:cNvPr>
          <p:cNvCxnSpPr>
            <a:cxnSpLocks/>
          </p:cNvCxnSpPr>
          <p:nvPr/>
        </p:nvCxnSpPr>
        <p:spPr>
          <a:xfrm>
            <a:off x="4829175" y="6645744"/>
            <a:ext cx="0" cy="83820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748E1AA-A1FA-2B63-FEDC-CB2257B02364}"/>
              </a:ext>
            </a:extLst>
          </p:cNvPr>
          <p:cNvSpPr/>
          <p:nvPr/>
        </p:nvSpPr>
        <p:spPr>
          <a:xfrm>
            <a:off x="4953001" y="7174305"/>
            <a:ext cx="1390650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タクトスイッチ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9CA62C4-9D2D-BC6E-CEC1-3A6650409C50}"/>
              </a:ext>
            </a:extLst>
          </p:cNvPr>
          <p:cNvSpPr txBox="1"/>
          <p:nvPr/>
        </p:nvSpPr>
        <p:spPr>
          <a:xfrm>
            <a:off x="295275" y="5904480"/>
            <a:ext cx="139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センサー基盤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9F72F0F-C043-2751-349A-2234C65B4D21}"/>
              </a:ext>
            </a:extLst>
          </p:cNvPr>
          <p:cNvSpPr txBox="1"/>
          <p:nvPr/>
        </p:nvSpPr>
        <p:spPr>
          <a:xfrm>
            <a:off x="4716567" y="5953246"/>
            <a:ext cx="139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画面用基盤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201A515-D6BA-00A3-A099-88FE6B7DEC93}"/>
              </a:ext>
            </a:extLst>
          </p:cNvPr>
          <p:cNvSpPr/>
          <p:nvPr/>
        </p:nvSpPr>
        <p:spPr>
          <a:xfrm>
            <a:off x="476250" y="7158176"/>
            <a:ext cx="1390650" cy="651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SHT3X</a:t>
            </a:r>
            <a:endParaRPr lang="ja-JP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F2C64F9E-D2EF-F06C-41F0-E3BDA52D99E3}"/>
              </a:ext>
            </a:extLst>
          </p:cNvPr>
          <p:cNvCxnSpPr>
            <a:cxnSpLocks/>
          </p:cNvCxnSpPr>
          <p:nvPr/>
        </p:nvCxnSpPr>
        <p:spPr>
          <a:xfrm>
            <a:off x="1985168" y="6648919"/>
            <a:ext cx="0" cy="8382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F53AA720-920B-3A12-8655-90384E4BB2A1}"/>
              </a:ext>
            </a:extLst>
          </p:cNvPr>
          <p:cNvCxnSpPr>
            <a:cxnSpLocks/>
          </p:cNvCxnSpPr>
          <p:nvPr/>
        </p:nvCxnSpPr>
        <p:spPr>
          <a:xfrm>
            <a:off x="4981459" y="7629994"/>
            <a:ext cx="57965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18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9433-B239-2F08-48BF-FC866056C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6AFB6B4-8A15-A50A-2770-7FAB54E28194}"/>
              </a:ext>
            </a:extLst>
          </p:cNvPr>
          <p:cNvSpPr/>
          <p:nvPr/>
        </p:nvSpPr>
        <p:spPr>
          <a:xfrm>
            <a:off x="180975" y="2070100"/>
            <a:ext cx="6496050" cy="6311900"/>
          </a:xfrm>
          <a:prstGeom prst="roundRect">
            <a:avLst>
              <a:gd name="adj" fmla="val 903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42167F-A638-1C75-96B8-AA992CDBEA7E}"/>
              </a:ext>
            </a:extLst>
          </p:cNvPr>
          <p:cNvSpPr txBox="1"/>
          <p:nvPr/>
        </p:nvSpPr>
        <p:spPr>
          <a:xfrm>
            <a:off x="0" y="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BIGINNER’S   FISH</a:t>
            </a:r>
          </a:p>
          <a:p>
            <a:pPr algn="ctr"/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r>
              <a:rPr kumimoji="1" lang="ja-JP" alt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ゲーム機制作を簡単にするデバイス</a:t>
            </a:r>
            <a:r>
              <a:rPr kumimoji="1" lang="en-US" altLang="ja-JP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~</a:t>
            </a:r>
            <a:endParaRPr kumimoji="1" lang="en-US" altLang="ja-JP" sz="2000" b="1" i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11B00C-AED7-662A-4D0F-07699846DD7D}"/>
              </a:ext>
            </a:extLst>
          </p:cNvPr>
          <p:cNvSpPr txBox="1"/>
          <p:nvPr/>
        </p:nvSpPr>
        <p:spPr>
          <a:xfrm>
            <a:off x="0" y="1582235"/>
            <a:ext cx="422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🐟動作方式</a:t>
            </a:r>
            <a:endParaRPr kumimoji="1" lang="en-US" altLang="ja-JP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9C49896-2B38-2E0B-1BE0-EC8F282AD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582" y="8639032"/>
            <a:ext cx="992857" cy="992857"/>
          </a:xfrm>
          <a:prstGeom prst="rect">
            <a:avLst/>
          </a:prstGeom>
        </p:spPr>
      </p:pic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000F1FBC-8F99-F504-7BF6-0154CF6D86B7}"/>
              </a:ext>
            </a:extLst>
          </p:cNvPr>
          <p:cNvGrpSpPr/>
          <p:nvPr/>
        </p:nvGrpSpPr>
        <p:grpSpPr>
          <a:xfrm>
            <a:off x="685163" y="2452722"/>
            <a:ext cx="5489997" cy="5540981"/>
            <a:chOff x="685164" y="2691375"/>
            <a:chExt cx="5489997" cy="5540981"/>
          </a:xfrm>
        </p:grpSpPr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AFDA5BEE-CE0B-72C6-2713-E1B3D58D85C6}"/>
                </a:ext>
              </a:extLst>
            </p:cNvPr>
            <p:cNvSpPr/>
            <p:nvPr/>
          </p:nvSpPr>
          <p:spPr>
            <a:xfrm>
              <a:off x="4382137" y="2691375"/>
              <a:ext cx="1790701" cy="23495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21D12F98-0670-6F8A-7ECC-E49A4EB89441}"/>
                </a:ext>
              </a:extLst>
            </p:cNvPr>
            <p:cNvSpPr/>
            <p:nvPr/>
          </p:nvSpPr>
          <p:spPr>
            <a:xfrm>
              <a:off x="685164" y="2691375"/>
              <a:ext cx="1790701" cy="23495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EC3B355-2006-D9D2-3AA1-12150CD1542B}"/>
                </a:ext>
              </a:extLst>
            </p:cNvPr>
            <p:cNvSpPr/>
            <p:nvPr/>
          </p:nvSpPr>
          <p:spPr>
            <a:xfrm>
              <a:off x="784860" y="3146245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起動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F2D76DB-50A6-A9A0-EB71-95FC34598B4C}"/>
                </a:ext>
              </a:extLst>
            </p:cNvPr>
            <p:cNvSpPr txBox="1"/>
            <p:nvPr/>
          </p:nvSpPr>
          <p:spPr>
            <a:xfrm>
              <a:off x="893762" y="2782675"/>
              <a:ext cx="1390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main.py</a:t>
              </a:r>
              <a:endPara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93D8658-6559-39C7-F39D-7D186C97E05E}"/>
                </a:ext>
              </a:extLst>
            </p:cNvPr>
            <p:cNvSpPr/>
            <p:nvPr/>
          </p:nvSpPr>
          <p:spPr>
            <a:xfrm>
              <a:off x="768985" y="3727543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セレクト画面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B32EEF8-9C57-BC98-19EC-814E039CC1CD}"/>
                </a:ext>
              </a:extLst>
            </p:cNvPr>
            <p:cNvSpPr/>
            <p:nvPr/>
          </p:nvSpPr>
          <p:spPr>
            <a:xfrm>
              <a:off x="784860" y="4308841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ゲームループ</a:t>
              </a:r>
              <a:endPara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矢印: 右 10">
              <a:extLst>
                <a:ext uri="{FF2B5EF4-FFF2-40B4-BE49-F238E27FC236}">
                  <a16:creationId xmlns:a16="http://schemas.microsoft.com/office/drawing/2014/main" id="{09BAA481-9F7F-FB9D-EAEB-FEBC6E8EAEE4}"/>
                </a:ext>
              </a:extLst>
            </p:cNvPr>
            <p:cNvSpPr/>
            <p:nvPr/>
          </p:nvSpPr>
          <p:spPr>
            <a:xfrm>
              <a:off x="2793049" y="3542825"/>
              <a:ext cx="1463040" cy="646599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62B9A9B-4735-FC70-3905-BE6E2B9A03ED}"/>
                </a:ext>
              </a:extLst>
            </p:cNvPr>
            <p:cNvSpPr txBox="1"/>
            <p:nvPr/>
          </p:nvSpPr>
          <p:spPr>
            <a:xfrm>
              <a:off x="2793049" y="3243570"/>
              <a:ext cx="1390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起動時に実行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CF04D5B9-46C2-4232-1C8C-77E280063CD8}"/>
                </a:ext>
              </a:extLst>
            </p:cNvPr>
            <p:cNvSpPr txBox="1"/>
            <p:nvPr/>
          </p:nvSpPr>
          <p:spPr>
            <a:xfrm>
              <a:off x="4503737" y="2816018"/>
              <a:ext cx="1390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Read_file.py</a:t>
              </a:r>
              <a:endPara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63B367E-8E59-4288-98BC-C3256F2F6D1F}"/>
                </a:ext>
              </a:extLst>
            </p:cNvPr>
            <p:cNvSpPr/>
            <p:nvPr/>
          </p:nvSpPr>
          <p:spPr>
            <a:xfrm>
              <a:off x="4484157" y="3132368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内部ファイルの参照</a:t>
              </a:r>
              <a:endPara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F99047E0-0090-8873-9079-B52E57B17F86}"/>
                </a:ext>
              </a:extLst>
            </p:cNvPr>
            <p:cNvSpPr/>
            <p:nvPr/>
          </p:nvSpPr>
          <p:spPr>
            <a:xfrm>
              <a:off x="4468282" y="3713666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各ファイルのセットアップ関数の取り出し</a:t>
              </a:r>
              <a:endPara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30EAC64-5897-7094-28ED-ADF1F716C74E}"/>
                </a:ext>
              </a:extLst>
            </p:cNvPr>
            <p:cNvSpPr/>
            <p:nvPr/>
          </p:nvSpPr>
          <p:spPr>
            <a:xfrm>
              <a:off x="4484157" y="4294964"/>
              <a:ext cx="1623060" cy="4471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各ファイルの</a:t>
              </a:r>
              <a:endPara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kumimoji="1" lang="ja-JP" altLang="en-US" sz="11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メイン関数の取り出し</a:t>
              </a:r>
              <a:endParaRPr kumimoji="1"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461FEFFD-4C64-5DFA-669A-1B462AA5981B}"/>
                </a:ext>
              </a:extLst>
            </p:cNvPr>
            <p:cNvGrpSpPr/>
            <p:nvPr/>
          </p:nvGrpSpPr>
          <p:grpSpPr>
            <a:xfrm>
              <a:off x="4384460" y="5882856"/>
              <a:ext cx="1790701" cy="2349500"/>
              <a:chOff x="846079" y="5199950"/>
              <a:chExt cx="1790701" cy="2349500"/>
            </a:xfrm>
          </p:grpSpPr>
          <p:sp>
            <p:nvSpPr>
              <p:cNvPr id="29" name="四角形: 角を丸くする 28">
                <a:extLst>
                  <a:ext uri="{FF2B5EF4-FFF2-40B4-BE49-F238E27FC236}">
                    <a16:creationId xmlns:a16="http://schemas.microsoft.com/office/drawing/2014/main" id="{9EC6079A-FE3B-4E83-33D8-3FB3F7D02DB7}"/>
                  </a:ext>
                </a:extLst>
              </p:cNvPr>
              <p:cNvSpPr/>
              <p:nvPr/>
            </p:nvSpPr>
            <p:spPr>
              <a:xfrm>
                <a:off x="846079" y="5199950"/>
                <a:ext cx="1790701" cy="23495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EA12676F-4732-0091-E0EB-6B9CA0F35E25}"/>
                  </a:ext>
                </a:extLst>
              </p:cNvPr>
              <p:cNvSpPr/>
              <p:nvPr/>
            </p:nvSpPr>
            <p:spPr>
              <a:xfrm>
                <a:off x="945776" y="5666246"/>
                <a:ext cx="1623060" cy="44711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起動</a:t>
                </a:r>
                <a:endPara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8F991C8-5746-F70F-7E86-E89475B9064C}"/>
                  </a:ext>
                </a:extLst>
              </p:cNvPr>
              <p:cNvSpPr txBox="1"/>
              <p:nvPr/>
            </p:nvSpPr>
            <p:spPr>
              <a:xfrm>
                <a:off x="1054678" y="5302676"/>
                <a:ext cx="13906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400" b="1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main.py</a:t>
                </a:r>
                <a:endParaRPr kumimoji="1" lang="ja-JP" altLang="en-US" sz="1400" b="1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9107D1FC-56C8-5A12-FC55-F8E57D91AFF8}"/>
                  </a:ext>
                </a:extLst>
              </p:cNvPr>
              <p:cNvSpPr/>
              <p:nvPr/>
            </p:nvSpPr>
            <p:spPr>
              <a:xfrm>
                <a:off x="929901" y="6247544"/>
                <a:ext cx="1623060" cy="44711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セレクト画面</a:t>
                </a:r>
                <a:endPara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93D39759-E725-74CF-049A-9A13A0514429}"/>
                  </a:ext>
                </a:extLst>
              </p:cNvPr>
              <p:cNvSpPr/>
              <p:nvPr/>
            </p:nvSpPr>
            <p:spPr>
              <a:xfrm>
                <a:off x="945776" y="6828842"/>
                <a:ext cx="1623060" cy="44711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ゲームループ</a:t>
                </a:r>
                <a:endPara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52" name="矢印: 右 51">
            <a:extLst>
              <a:ext uri="{FF2B5EF4-FFF2-40B4-BE49-F238E27FC236}">
                <a16:creationId xmlns:a16="http://schemas.microsoft.com/office/drawing/2014/main" id="{3DC547F9-71CC-AC10-2377-324B771AA770}"/>
              </a:ext>
            </a:extLst>
          </p:cNvPr>
          <p:cNvSpPr/>
          <p:nvPr/>
        </p:nvSpPr>
        <p:spPr>
          <a:xfrm rot="5400000">
            <a:off x="4944028" y="4932816"/>
            <a:ext cx="698668" cy="58079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6E5F48A-189B-0B79-C730-BBAF142E7B45}"/>
              </a:ext>
            </a:extLst>
          </p:cNvPr>
          <p:cNvSpPr txBox="1"/>
          <p:nvPr/>
        </p:nvSpPr>
        <p:spPr>
          <a:xfrm>
            <a:off x="3608385" y="4960741"/>
            <a:ext cx="1790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関数の取得</a:t>
            </a: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CEAC057D-5B3F-9103-3EC9-9757A11491D7}"/>
              </a:ext>
            </a:extLst>
          </p:cNvPr>
          <p:cNvSpPr/>
          <p:nvPr/>
        </p:nvSpPr>
        <p:spPr>
          <a:xfrm>
            <a:off x="682841" y="5646718"/>
            <a:ext cx="1790701" cy="23495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F01836C-6176-5C7E-9A9E-691A7ADD6BD7}"/>
              </a:ext>
            </a:extLst>
          </p:cNvPr>
          <p:cNvSpPr/>
          <p:nvPr/>
        </p:nvSpPr>
        <p:spPr>
          <a:xfrm>
            <a:off x="782537" y="6101588"/>
            <a:ext cx="1623060" cy="44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画面描画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56DEA89-D70E-FE43-70F4-3CF5EE023C7D}"/>
              </a:ext>
            </a:extLst>
          </p:cNvPr>
          <p:cNvSpPr txBox="1"/>
          <p:nvPr/>
        </p:nvSpPr>
        <p:spPr>
          <a:xfrm>
            <a:off x="891439" y="5738018"/>
            <a:ext cx="139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FISH.py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19199A5-DF4B-CB45-E321-A00DC13ED6A8}"/>
              </a:ext>
            </a:extLst>
          </p:cNvPr>
          <p:cNvSpPr/>
          <p:nvPr/>
        </p:nvSpPr>
        <p:spPr>
          <a:xfrm>
            <a:off x="766662" y="6682886"/>
            <a:ext cx="1623060" cy="44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スイッチ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72F4DACE-D21D-A32E-26F1-356503980F46}"/>
              </a:ext>
            </a:extLst>
          </p:cNvPr>
          <p:cNvSpPr/>
          <p:nvPr/>
        </p:nvSpPr>
        <p:spPr>
          <a:xfrm>
            <a:off x="782537" y="7264184"/>
            <a:ext cx="1623060" cy="4471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センサー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矢印: 右 73">
            <a:extLst>
              <a:ext uri="{FF2B5EF4-FFF2-40B4-BE49-F238E27FC236}">
                <a16:creationId xmlns:a16="http://schemas.microsoft.com/office/drawing/2014/main" id="{08B8DC9F-9E38-E214-7A7A-DEC2EB22CB56}"/>
              </a:ext>
            </a:extLst>
          </p:cNvPr>
          <p:cNvSpPr/>
          <p:nvPr/>
        </p:nvSpPr>
        <p:spPr>
          <a:xfrm>
            <a:off x="2793048" y="6492314"/>
            <a:ext cx="1463040" cy="64659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7D18295-D34D-2060-6828-43272110FA51}"/>
              </a:ext>
            </a:extLst>
          </p:cNvPr>
          <p:cNvSpPr txBox="1"/>
          <p:nvPr/>
        </p:nvSpPr>
        <p:spPr>
          <a:xfrm>
            <a:off x="2691765" y="6184537"/>
            <a:ext cx="1474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各要素の簡易化</a:t>
            </a:r>
          </a:p>
        </p:txBody>
      </p:sp>
    </p:spTree>
    <p:extLst>
      <p:ext uri="{BB962C8B-B14F-4D97-AF65-F5344CB8AC3E}">
        <p14:creationId xmlns:p14="http://schemas.microsoft.com/office/powerpoint/2010/main" val="324677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187</TotalTime>
  <Words>361</Words>
  <Application>Microsoft Office PowerPoint</Application>
  <PresentationFormat>A4 210 x 297 mm</PresentationFormat>
  <Paragraphs>64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Meiryo UI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西村　旭生_富山</dc:creator>
  <cp:lastModifiedBy>西村　旭生_富山</cp:lastModifiedBy>
  <cp:revision>14</cp:revision>
  <dcterms:created xsi:type="dcterms:W3CDTF">2026-09-16T14:29:15Z</dcterms:created>
  <dcterms:modified xsi:type="dcterms:W3CDTF">2026-09-16T17:36:22Z</dcterms:modified>
</cp:coreProperties>
</file>